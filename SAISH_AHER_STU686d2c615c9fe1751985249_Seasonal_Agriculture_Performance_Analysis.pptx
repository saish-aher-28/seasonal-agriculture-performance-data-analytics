
<file path=[Content_Types].xml><?xml version="1.0" encoding="utf-8"?>
<Types xmlns="http://schemas.openxmlformats.org/package/2006/content-types"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1"/>
  </p:notesMasterIdLst>
  <p:handoutMasterIdLst>
    <p:handoutMasterId r:id="rId22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7" r:id="rId11"/>
    <p:sldId id="348" r:id="rId12"/>
    <p:sldId id="349" r:id="rId13"/>
    <p:sldId id="350" r:id="rId14"/>
    <p:sldId id="351" r:id="rId15"/>
    <p:sldId id="352" r:id="rId16"/>
    <p:sldId id="353" r:id="rId17"/>
    <p:sldId id="354" r:id="rId18"/>
    <p:sldId id="355" r:id="rId19"/>
    <p:sldId id="35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7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690" r:id="rId2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ish-aher-28/seasonal-agriculture-performance-data-analytic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3" y="2844750"/>
            <a:ext cx="9540903" cy="743448"/>
          </a:xfrm>
        </p:spPr>
        <p:txBody>
          <a:bodyPr>
            <a:normAutofit/>
          </a:bodyPr>
          <a:lstStyle/>
          <a:p>
            <a:r>
              <a:rPr lang="en-GB" sz="2000" dirty="0"/>
              <a:t>Project Title - </a:t>
            </a:r>
            <a:r>
              <a:rPr lang="en-US" sz="2000" dirty="0"/>
              <a:t>Seasonal Agriculture Performance Analysis &amp; </a:t>
            </a:r>
            <a:br>
              <a:rPr lang="en-US" sz="2000" dirty="0"/>
            </a:br>
            <a:r>
              <a:rPr lang="en-US" sz="2000" dirty="0"/>
              <a:t>Resource Optimization</a:t>
            </a:r>
            <a:endParaRPr lang="en-IN" sz="20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0" name="Title 3">
            <a:extLst>
              <a:ext uri="{FF2B5EF4-FFF2-40B4-BE49-F238E27FC236}">
                <a16:creationId xmlns:a16="http://schemas.microsoft.com/office/drawing/2014/main" id="{90FA9DBD-EF17-1357-3554-CDD723A3A12C}"/>
              </a:ext>
            </a:extLst>
          </p:cNvPr>
          <p:cNvSpPr txBox="1">
            <a:spLocks/>
          </p:cNvSpPr>
          <p:nvPr/>
        </p:nvSpPr>
        <p:spPr>
          <a:xfrm>
            <a:off x="675958" y="4196054"/>
            <a:ext cx="4801976" cy="10278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800" dirty="0"/>
              <a:t>Student Name: SAISH POPAT AHER  </a:t>
            </a:r>
          </a:p>
          <a:p>
            <a:r>
              <a:rPr lang="en-US" sz="1800" dirty="0"/>
              <a:t>College Name: Sanjivani college of engineering </a:t>
            </a:r>
          </a:p>
          <a:p>
            <a:r>
              <a:rPr lang="en-US" sz="1800" dirty="0"/>
              <a:t>AICTE STU ID: </a:t>
            </a:r>
            <a:r>
              <a:rPr lang="en-IN" b="1" dirty="0"/>
              <a:t> </a:t>
            </a:r>
            <a:r>
              <a:rPr lang="en-IN" sz="1800" dirty="0"/>
              <a:t>STU686d2c615c9fe1751985249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CB7B325-A946-2FFF-433A-E85179BAC445}"/>
              </a:ext>
            </a:extLst>
          </p:cNvPr>
          <p:cNvSpPr/>
          <p:nvPr/>
        </p:nvSpPr>
        <p:spPr>
          <a:xfrm>
            <a:off x="0" y="585568"/>
            <a:ext cx="4639733" cy="5588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EA8F1D7-C41E-30F5-5480-9C695B47CA51}"/>
              </a:ext>
            </a:extLst>
          </p:cNvPr>
          <p:cNvSpPr txBox="1"/>
          <p:nvPr/>
        </p:nvSpPr>
        <p:spPr>
          <a:xfrm>
            <a:off x="126999" y="680302"/>
            <a:ext cx="4385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12CF97-BE4A-E4CE-0302-E457D9AA11FE}"/>
              </a:ext>
            </a:extLst>
          </p:cNvPr>
          <p:cNvSpPr txBox="1"/>
          <p:nvPr/>
        </p:nvSpPr>
        <p:spPr>
          <a:xfrm>
            <a:off x="126999" y="2068750"/>
            <a:ext cx="815340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Agricultural activities are influenced by seasonal variations in environmental conditions, farming practices, resource availability, and market conditions.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Raw agricultural data does not clearly explain how performance changes across seasons or what patterns exist in different conditions.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Goal: Analyze the dataset to investigate seasonal differences in agricultural performance by identifying meaningful patterns, trends, relationships, and variations.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1EB01BC-8F2D-4586-D0BC-2FAEF8C54BFB}"/>
              </a:ext>
            </a:extLst>
          </p:cNvPr>
          <p:cNvSpPr/>
          <p:nvPr/>
        </p:nvSpPr>
        <p:spPr>
          <a:xfrm>
            <a:off x="0" y="585568"/>
            <a:ext cx="4639733" cy="5588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6C75BE-E807-8CA5-A1F9-6AFED4A9B2DE}"/>
              </a:ext>
            </a:extLst>
          </p:cNvPr>
          <p:cNvSpPr txBox="1"/>
          <p:nvPr/>
        </p:nvSpPr>
        <p:spPr>
          <a:xfrm>
            <a:off x="126999" y="680302"/>
            <a:ext cx="4385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Project Description &amp; Methodology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E78FC0-02B6-C7FD-CE28-D5D80660E808}"/>
              </a:ext>
            </a:extLst>
          </p:cNvPr>
          <p:cNvSpPr txBox="1"/>
          <p:nvPr/>
        </p:nvSpPr>
        <p:spPr>
          <a:xfrm>
            <a:off x="126999" y="2068750"/>
            <a:ext cx="815340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Dataset Scope: 4,000 multi-regional farm records across 28 distinct agronomic, environmental, and financial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 Engineering: Executed rigorous data hygiene, handling missing values in Yield and Rainfall via robust median imputation to preserve extreme weather outliers.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Analytical Approach: Conducted comprehensive Exploratory Data Analysis (EDA) using univariate distributions, bivariate comparisons, and multivariate correlation modeling.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Core Focus: Transitioned raw data into actionable intelligence regarding crop unit economics, irrigation efficiency, and climate-driven pest risks.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1910757-E650-EF0B-CC05-CA7ACB2544A0}"/>
              </a:ext>
            </a:extLst>
          </p:cNvPr>
          <p:cNvSpPr/>
          <p:nvPr/>
        </p:nvSpPr>
        <p:spPr>
          <a:xfrm>
            <a:off x="0" y="585568"/>
            <a:ext cx="4639733" cy="5588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3D426A-E0CE-A98F-B316-9E465E194E7D}"/>
              </a:ext>
            </a:extLst>
          </p:cNvPr>
          <p:cNvSpPr txBox="1"/>
          <p:nvPr/>
        </p:nvSpPr>
        <p:spPr>
          <a:xfrm>
            <a:off x="126999" y="680302"/>
            <a:ext cx="4385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Who Are The End Users?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FCD204-3B28-5C72-84F7-81BB6AFF9098}"/>
              </a:ext>
            </a:extLst>
          </p:cNvPr>
          <p:cNvSpPr txBox="1"/>
          <p:nvPr/>
        </p:nvSpPr>
        <p:spPr>
          <a:xfrm>
            <a:off x="126999" y="2068750"/>
            <a:ext cx="815340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Agronomists &amp; Farm Cooperatives: To optimize crop rotation schedules and prevent margin-trap farming during low-yield seasons.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Agricultural Policy Makers: To design targeted minimum support price (MSP) interventions and seasonal water rationing policies.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Agri-Tech Startups: To build predictive risk models for pest outbreaks based on historical humidity and temperature thresholds.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Irrigation Equipment Manufacturers: To quantify and market the ROI (Return on Investment) of micro-irrigation systems.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E281A3A-A8BC-CC63-443B-88BBB96785DF}"/>
              </a:ext>
            </a:extLst>
          </p:cNvPr>
          <p:cNvSpPr/>
          <p:nvPr/>
        </p:nvSpPr>
        <p:spPr>
          <a:xfrm>
            <a:off x="0" y="585568"/>
            <a:ext cx="4639733" cy="5588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844F6F-BFF2-502C-D571-2341DFAFC45D}"/>
              </a:ext>
            </a:extLst>
          </p:cNvPr>
          <p:cNvSpPr txBox="1"/>
          <p:nvPr/>
        </p:nvSpPr>
        <p:spPr>
          <a:xfrm>
            <a:off x="126999" y="680302"/>
            <a:ext cx="4385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Technology Used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31034F-1239-2CE2-B152-6337D9B38381}"/>
              </a:ext>
            </a:extLst>
          </p:cNvPr>
          <p:cNvSpPr txBox="1"/>
          <p:nvPr/>
        </p:nvSpPr>
        <p:spPr>
          <a:xfrm>
            <a:off x="65388" y="1417102"/>
            <a:ext cx="91486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Programming Language: Python 3 (Core Analytics)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 Manipulation: Pandas, NumPy (Aggregation, Imputation, Pivot Modeling)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 Visualization: Matplotlib, Seaborn (Correlation Heatmaps, Boxplots, KDE Distributions)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Development Environment: </a:t>
            </a:r>
            <a:r>
              <a:rPr lang="en-US" sz="1600" dirty="0" err="1"/>
              <a:t>Jupyter</a:t>
            </a:r>
            <a:r>
              <a:rPr lang="en-US" sz="1600" dirty="0"/>
              <a:t> Notebook (.</a:t>
            </a:r>
            <a:r>
              <a:rPr lang="en-US" sz="1600" dirty="0" err="1"/>
              <a:t>ipynb</a:t>
            </a:r>
            <a:r>
              <a:rPr lang="en-US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Reporting: Microsoft PowerPoint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0E74FE-C982-0D6E-8453-CDC80CAE3A7B}"/>
              </a:ext>
            </a:extLst>
          </p:cNvPr>
          <p:cNvSpPr/>
          <p:nvPr/>
        </p:nvSpPr>
        <p:spPr>
          <a:xfrm>
            <a:off x="0" y="585568"/>
            <a:ext cx="4639733" cy="5588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229BF7-B367-ADC3-96F0-73BFB896CD0A}"/>
              </a:ext>
            </a:extLst>
          </p:cNvPr>
          <p:cNvSpPr txBox="1"/>
          <p:nvPr/>
        </p:nvSpPr>
        <p:spPr>
          <a:xfrm>
            <a:off x="126999" y="680302"/>
            <a:ext cx="4385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RESULTS: Macro Seasonal Performance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C42AD7-AF9B-1D6A-186C-FEC36A6DBFBA}"/>
              </a:ext>
            </a:extLst>
          </p:cNvPr>
          <p:cNvSpPr txBox="1"/>
          <p:nvPr/>
        </p:nvSpPr>
        <p:spPr>
          <a:xfrm>
            <a:off x="126999" y="2068750"/>
            <a:ext cx="815340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Kharif (Monsoon): Highest average profitability (₹1.78L) and yield (5.64 t/ha), but carries severe pest risk (54.4%).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Rabi (Winter): The most stable season. Balanced profitability (₹87K) with the lowest baseline pest vulnerability (40.4%).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Zaid (Summer): Represents a severe margin trap. High water usage and intense heat result in an average net operational loss (-₹24.8K).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A180A-3881-FA9A-668F-4D0342154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B3C072-6D0F-2492-84CE-E365AAA714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23910061-6853-858D-ACD7-AB8E1F83120C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663296-BCBE-25FC-8EC1-A0350E1B2567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D7DE06-A2F0-1FEE-B6BC-4F35F54D2F6E}"/>
              </a:ext>
            </a:extLst>
          </p:cNvPr>
          <p:cNvSpPr/>
          <p:nvPr/>
        </p:nvSpPr>
        <p:spPr>
          <a:xfrm>
            <a:off x="0" y="585568"/>
            <a:ext cx="5435601" cy="5588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07F726-8330-7AA9-C1DA-FAEA69BF4DEC}"/>
              </a:ext>
            </a:extLst>
          </p:cNvPr>
          <p:cNvSpPr txBox="1"/>
          <p:nvPr/>
        </p:nvSpPr>
        <p:spPr>
          <a:xfrm>
            <a:off x="126999" y="680302"/>
            <a:ext cx="5435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RESULTS: Financial Distribution Across Seasons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05F192-311C-41AA-2876-873249F5EBB3}"/>
              </a:ext>
            </a:extLst>
          </p:cNvPr>
          <p:cNvSpPr txBox="1"/>
          <p:nvPr/>
        </p:nvSpPr>
        <p:spPr>
          <a:xfrm>
            <a:off x="126999" y="2068750"/>
            <a:ext cx="81534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bar plot demonstrates the stark contrast in net profitability.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Zaid season consistently dips below the break-even zero line.</a:t>
            </a:r>
            <a:endParaRPr lang="en-IN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4E0A84-6577-8FC0-32FF-4B417D662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498" y="3051388"/>
            <a:ext cx="5676392" cy="351705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99042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C08E8-ABC4-FD4A-A816-264902212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68AC8F-799C-9FD5-AFCF-EB73E1198C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09DE5E0-0698-5E58-EAAC-F1B647F0EFB0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A9458E5E-2B64-DA2F-7A98-7A482B3EFF4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359CD1-58BA-D3DA-804F-2C457A161A14}"/>
              </a:ext>
            </a:extLst>
          </p:cNvPr>
          <p:cNvSpPr/>
          <p:nvPr/>
        </p:nvSpPr>
        <p:spPr>
          <a:xfrm>
            <a:off x="-1" y="585568"/>
            <a:ext cx="6290734" cy="5588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1755E7-23F5-F2A9-C451-380083A81696}"/>
              </a:ext>
            </a:extLst>
          </p:cNvPr>
          <p:cNvSpPr txBox="1"/>
          <p:nvPr/>
        </p:nvSpPr>
        <p:spPr>
          <a:xfrm>
            <a:off x="126998" y="680302"/>
            <a:ext cx="6163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RESULTS: Crop Unit Economics (Cash Crops vs. Cereals)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34D722-7A6D-DCCA-5865-0AB44407EDF7}"/>
              </a:ext>
            </a:extLst>
          </p:cNvPr>
          <p:cNvSpPr txBox="1"/>
          <p:nvPr/>
        </p:nvSpPr>
        <p:spPr>
          <a:xfrm>
            <a:off x="126998" y="1279729"/>
            <a:ext cx="95504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Cash Crop Dominance: Sugarcane and Chilli maintain massive positive margins across all three seasons.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Cereal Deficits: Traditional grains (Rice, Wheat, Maize) consistently operate at net losses, heavily dragging down overall farm averages.</a:t>
            </a:r>
            <a:endParaRPr lang="en-IN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5C95FC-82A9-9469-5851-AF6310B50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435" y="2751416"/>
            <a:ext cx="6718517" cy="35722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8719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EE53E-556A-76EA-BBDC-300AC3FA2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DE5182-D6C9-63BF-D4F1-D0AAB7083D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8466A88-1708-FBFC-48BD-3339F3C08878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65DAB49-C3C4-FE78-66A2-36F79D366404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D40FCE-5C4B-44FF-3A22-8C70C9C41AD6}"/>
              </a:ext>
            </a:extLst>
          </p:cNvPr>
          <p:cNvSpPr txBox="1"/>
          <p:nvPr/>
        </p:nvSpPr>
        <p:spPr>
          <a:xfrm>
            <a:off x="126998" y="680302"/>
            <a:ext cx="4345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RESULTS: Irrigation Method Efficiency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8D7AE5-2BE3-745B-9107-B90429401663}"/>
              </a:ext>
            </a:extLst>
          </p:cNvPr>
          <p:cNvSpPr txBox="1"/>
          <p:nvPr/>
        </p:nvSpPr>
        <p:spPr>
          <a:xfrm>
            <a:off x="126998" y="1353852"/>
            <a:ext cx="95504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Drip Irrigation: Yields highest average profit (₹2.19L) and best water efficiency (6.26 t/1000m³).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Flood Irrigation: Most common but least efficient, consuming maximum water (8,026 m³) for minimal financial return.</a:t>
            </a:r>
            <a:endParaRPr lang="en-IN" sz="16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27AEF8-AB4D-528D-15ED-5E98D0462DDB}"/>
              </a:ext>
            </a:extLst>
          </p:cNvPr>
          <p:cNvSpPr/>
          <p:nvPr/>
        </p:nvSpPr>
        <p:spPr>
          <a:xfrm>
            <a:off x="0" y="585568"/>
            <a:ext cx="4639733" cy="5588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05CDA0-4014-E917-EAF3-0DFF48F30EAA}"/>
              </a:ext>
            </a:extLst>
          </p:cNvPr>
          <p:cNvSpPr txBox="1"/>
          <p:nvPr/>
        </p:nvSpPr>
        <p:spPr>
          <a:xfrm>
            <a:off x="126999" y="680302"/>
            <a:ext cx="4385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RESULTS: Irrigation Method Efficiency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711DB62-BA92-DE2F-FF71-DBE0388E4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2886775"/>
            <a:ext cx="8952793" cy="31370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3233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054A1-8959-7AD6-D96A-F67DB1783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0EEF7B-78D5-AE0B-3BA8-45DE822DAA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EF011903-28EC-06A9-476B-4D0EA9708B9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47BC472-B835-F769-A419-1854E216D3F8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A5A745-FCD1-D121-51CC-05B88BB30FEC}"/>
              </a:ext>
            </a:extLst>
          </p:cNvPr>
          <p:cNvSpPr txBox="1"/>
          <p:nvPr/>
        </p:nvSpPr>
        <p:spPr>
          <a:xfrm>
            <a:off x="126998" y="680302"/>
            <a:ext cx="4345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RESULTS: Irrigation Method Efficiency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541C7E-88F5-3438-05E5-9B7B1D492017}"/>
              </a:ext>
            </a:extLst>
          </p:cNvPr>
          <p:cNvSpPr txBox="1"/>
          <p:nvPr/>
        </p:nvSpPr>
        <p:spPr>
          <a:xfrm>
            <a:off x="126998" y="1353852"/>
            <a:ext cx="95504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Clear positive correlation between atmospheric humidity and pest risk.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Kharif's</a:t>
            </a:r>
            <a:r>
              <a:rPr lang="en-US" sz="1600" dirty="0"/>
              <a:t> high humidity creates an optimal breeding ground for biological threats, requiring preemptive chemical mitigation.</a:t>
            </a:r>
            <a:endParaRPr lang="en-IN" sz="16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1EE018-C0B3-DFF0-E8B6-A85793699BFA}"/>
              </a:ext>
            </a:extLst>
          </p:cNvPr>
          <p:cNvSpPr/>
          <p:nvPr/>
        </p:nvSpPr>
        <p:spPr>
          <a:xfrm>
            <a:off x="0" y="585568"/>
            <a:ext cx="5122331" cy="5588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256541-9C1D-3AC5-AF0E-39B86A6530F2}"/>
              </a:ext>
            </a:extLst>
          </p:cNvPr>
          <p:cNvSpPr txBox="1"/>
          <p:nvPr/>
        </p:nvSpPr>
        <p:spPr>
          <a:xfrm>
            <a:off x="126999" y="680302"/>
            <a:ext cx="4995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RESULTS: Climate-Driven Disease &amp; Pest Risk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166D82-1CF0-16A8-D5EF-EBA7FB303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872" y="2755772"/>
            <a:ext cx="6283643" cy="37370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7727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5E787-B7C6-E05B-E97A-7AFBC4482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0C31AA-3949-253C-8FAB-21ABFCC50B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934F6500-67C6-1115-8CC3-6571F6C8691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770D1A1-EB94-2E45-DD86-D2FBC7A34AA2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710731-55B7-815C-0C84-D9EE0D09D57E}"/>
              </a:ext>
            </a:extLst>
          </p:cNvPr>
          <p:cNvSpPr txBox="1"/>
          <p:nvPr/>
        </p:nvSpPr>
        <p:spPr>
          <a:xfrm>
            <a:off x="126998" y="680302"/>
            <a:ext cx="4345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RESULTS: Irrigation Method Efficiency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196D61-815A-1EE8-4CAE-F140CA1775B7}"/>
              </a:ext>
            </a:extLst>
          </p:cNvPr>
          <p:cNvSpPr txBox="1"/>
          <p:nvPr/>
        </p:nvSpPr>
        <p:spPr>
          <a:xfrm>
            <a:off x="126998" y="2072452"/>
            <a:ext cx="545253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Identifies multi-variable relationships across agronomic and financial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Confirms a near-zero correlation between total water used and final profit, proving that simply adding more water (over-irrigation) does not scale revenue.</a:t>
            </a:r>
            <a:endParaRPr lang="en-IN" sz="16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B59DBE-21AB-9B75-C5E9-1CA5AC2006A5}"/>
              </a:ext>
            </a:extLst>
          </p:cNvPr>
          <p:cNvSpPr/>
          <p:nvPr/>
        </p:nvSpPr>
        <p:spPr>
          <a:xfrm>
            <a:off x="0" y="585568"/>
            <a:ext cx="5122331" cy="5588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CEFE0A-1171-1CA4-8579-AF1EDB2BF0C8}"/>
              </a:ext>
            </a:extLst>
          </p:cNvPr>
          <p:cNvSpPr txBox="1"/>
          <p:nvPr/>
        </p:nvSpPr>
        <p:spPr>
          <a:xfrm>
            <a:off x="126999" y="680302"/>
            <a:ext cx="4995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RESULTS: Global Correlation Matrix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469444-1FC4-1304-DEAF-DE17F1928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136" y="1275371"/>
            <a:ext cx="5679882" cy="46806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9589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781EC-AA92-3687-437E-9B21BFD97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2814BB-5639-8C9C-2B77-25ECCEC2B8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2550716-EA03-00DA-293D-22140A66D6F0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7D248793-0A37-FF6C-C11A-43D2384D5478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9CC2C0-EAFE-19B0-E955-1F587059B9B2}"/>
              </a:ext>
            </a:extLst>
          </p:cNvPr>
          <p:cNvSpPr/>
          <p:nvPr/>
        </p:nvSpPr>
        <p:spPr>
          <a:xfrm>
            <a:off x="0" y="585568"/>
            <a:ext cx="4639733" cy="5588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9F7311-55D3-9A58-9CFE-C9C46658118F}"/>
              </a:ext>
            </a:extLst>
          </p:cNvPr>
          <p:cNvSpPr txBox="1"/>
          <p:nvPr/>
        </p:nvSpPr>
        <p:spPr>
          <a:xfrm>
            <a:off x="126999" y="680302"/>
            <a:ext cx="4385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Data-Driven Recommendations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8DFF4E-E30B-6734-B242-78C6ED50E21B}"/>
              </a:ext>
            </a:extLst>
          </p:cNvPr>
          <p:cNvSpPr txBox="1"/>
          <p:nvPr/>
        </p:nvSpPr>
        <p:spPr>
          <a:xfrm>
            <a:off x="126999" y="2068750"/>
            <a:ext cx="815340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Irrigation Overhaul: Transition from Flood to Drip irrigation to drastically cut water volume while multiplying profit margins by 3x.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Zaid Season Crop Rotation: Advise farmers to halt cereal grain (Rice/Wheat) production during the summer (Zaid) to avoid guaranteed margin losses.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Preemptive Pest Control: Mandate prophylactic pesticide schedules prior to peak monsoon (Kharif) months, targeting the 70%+ humidity threshold.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607930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3CA1F-8586-0ADD-AE43-158A2DC68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BC9F55-D504-51AC-86F2-A7A1094168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A8930F0-7A0A-B6C9-267B-232191572DC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7A0D56BE-525D-D2BC-8B1A-11A0DADA67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E5D491-B7D6-77E5-BFCC-B87AD658E08E}"/>
              </a:ext>
            </a:extLst>
          </p:cNvPr>
          <p:cNvSpPr/>
          <p:nvPr/>
        </p:nvSpPr>
        <p:spPr>
          <a:xfrm>
            <a:off x="0" y="585568"/>
            <a:ext cx="3564467" cy="5588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27A655-0A54-C238-DB18-F67ADF7D9B79}"/>
              </a:ext>
            </a:extLst>
          </p:cNvPr>
          <p:cNvSpPr txBox="1"/>
          <p:nvPr/>
        </p:nvSpPr>
        <p:spPr>
          <a:xfrm>
            <a:off x="126999" y="680302"/>
            <a:ext cx="4385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Future Scope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F8D780-D3E6-4355-0682-F3E870750876}"/>
              </a:ext>
            </a:extLst>
          </p:cNvPr>
          <p:cNvSpPr txBox="1"/>
          <p:nvPr/>
        </p:nvSpPr>
        <p:spPr>
          <a:xfrm>
            <a:off x="126999" y="2068750"/>
            <a:ext cx="815340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Machine Learning Integration: Build predictive Random Forest models to forecast exact crop yields based on pre-season soil and climate inputs.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IoT Sensor Deployment: Integrate live soil-moisture IoT data to automate precision drip-irrigation schedules.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Geospatial Risk Mapping: Develop district-level heatmaps to visually track emerging pest outbreaks in real-time.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901635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B7138-2525-BEB3-D366-A1664805C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2474FA-1EA7-0C7F-EA04-BF4197CDB0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881A22B-C9DF-CFF9-FB88-1353CCDF8AC8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72D44932-17EC-1897-B1D0-5988B8097C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797DDD-1BFD-4E9D-CF2B-06DE4DB1687C}"/>
              </a:ext>
            </a:extLst>
          </p:cNvPr>
          <p:cNvSpPr/>
          <p:nvPr/>
        </p:nvSpPr>
        <p:spPr>
          <a:xfrm>
            <a:off x="0" y="585568"/>
            <a:ext cx="3564467" cy="5588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344A07-6786-9C3C-CDFB-EDB5A8ED5474}"/>
              </a:ext>
            </a:extLst>
          </p:cNvPr>
          <p:cNvSpPr txBox="1"/>
          <p:nvPr/>
        </p:nvSpPr>
        <p:spPr>
          <a:xfrm>
            <a:off x="126999" y="680302"/>
            <a:ext cx="4385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GitHub Link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4C5225-2CB6-072A-56A6-39BF5916CB10}"/>
              </a:ext>
            </a:extLst>
          </p:cNvPr>
          <p:cNvSpPr txBox="1"/>
          <p:nvPr/>
        </p:nvSpPr>
        <p:spPr>
          <a:xfrm>
            <a:off x="126999" y="2068750"/>
            <a:ext cx="96774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Repository: </a:t>
            </a:r>
            <a:r>
              <a:rPr lang="en-US" sz="1600" u="sng" dirty="0">
                <a:hlinkClick r:id="rId3"/>
              </a:rPr>
              <a:t>https://github.com/Saish-aher-28/seasonal-agriculture-performance-data-analytics</a:t>
            </a:r>
            <a:endParaRPr lang="en-US" sz="16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Contains full </a:t>
            </a:r>
            <a:r>
              <a:rPr lang="en-US" sz="1600" dirty="0" err="1"/>
              <a:t>Jupyter</a:t>
            </a:r>
            <a:r>
              <a:rPr lang="en-US" sz="1600" dirty="0"/>
              <a:t> Notebook, comprehensive Markdown EDA, and datasets.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092540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E1B20-1D75-C795-BBD8-211081A26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00B96F-D144-93CF-256D-4945CDC507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1156C2F9-4840-36B1-2656-0E829FA580CD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0718652-7903-148E-0AB3-62D3FF42DA6D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143C8F-BE22-0C0F-6366-0EBC9CE1604C}"/>
              </a:ext>
            </a:extLst>
          </p:cNvPr>
          <p:cNvSpPr/>
          <p:nvPr/>
        </p:nvSpPr>
        <p:spPr>
          <a:xfrm>
            <a:off x="1" y="585568"/>
            <a:ext cx="4345694" cy="5588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33A993-A410-51F0-98D6-4B5D6E799037}"/>
              </a:ext>
            </a:extLst>
          </p:cNvPr>
          <p:cNvSpPr txBox="1"/>
          <p:nvPr/>
        </p:nvSpPr>
        <p:spPr>
          <a:xfrm>
            <a:off x="126999" y="680302"/>
            <a:ext cx="4385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VOIS Course Completion Certificate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3A54E3-E002-A680-FDEA-0931E13508B7}"/>
              </a:ext>
            </a:extLst>
          </p:cNvPr>
          <p:cNvSpPr txBox="1"/>
          <p:nvPr/>
        </p:nvSpPr>
        <p:spPr>
          <a:xfrm>
            <a:off x="126999" y="1602895"/>
            <a:ext cx="37507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Course Name: Data Visualization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F9F1EC-A5BB-49EA-5925-0D52D3A98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045" y="1217417"/>
            <a:ext cx="7068589" cy="500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56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449BE-081D-8E47-3550-8CBE53B1C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51F7B1-F05D-77CB-6F95-F390C2D72B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D08403B-E71B-1723-C707-166307BA8198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2A598CB-D050-FED3-B0E9-E369688CD91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800FDF-1E10-004C-48DD-047B41B13FD6}"/>
              </a:ext>
            </a:extLst>
          </p:cNvPr>
          <p:cNvSpPr/>
          <p:nvPr/>
        </p:nvSpPr>
        <p:spPr>
          <a:xfrm>
            <a:off x="0" y="585568"/>
            <a:ext cx="3564467" cy="5588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A857FE-943C-A435-6B83-C274C089E338}"/>
              </a:ext>
            </a:extLst>
          </p:cNvPr>
          <p:cNvSpPr txBox="1"/>
          <p:nvPr/>
        </p:nvSpPr>
        <p:spPr>
          <a:xfrm>
            <a:off x="126999" y="680302"/>
            <a:ext cx="4385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Thank You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3DD7AA-1A21-7584-2DD6-4BA3F596D33F}"/>
              </a:ext>
            </a:extLst>
          </p:cNvPr>
          <p:cNvSpPr txBox="1"/>
          <p:nvPr/>
        </p:nvSpPr>
        <p:spPr>
          <a:xfrm>
            <a:off x="126999" y="2068750"/>
            <a:ext cx="878840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Thank you for your time and attention.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Open for questions and technical discussion.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Saish Popat Aher</a:t>
            </a:r>
          </a:p>
        </p:txBody>
      </p:sp>
    </p:spTree>
    <p:extLst>
      <p:ext uri="{BB962C8B-B14F-4D97-AF65-F5344CB8AC3E}">
        <p14:creationId xmlns:p14="http://schemas.microsoft.com/office/powerpoint/2010/main" val="147413429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1471</TotalTime>
  <Words>808</Words>
  <Application>Microsoft Office PowerPoint</Application>
  <PresentationFormat>Widescreen</PresentationFormat>
  <Paragraphs>120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Trebuchet MS</vt:lpstr>
      <vt:lpstr>Wingdings</vt:lpstr>
      <vt:lpstr>Wingdings 3</vt:lpstr>
      <vt:lpstr>Facet</vt:lpstr>
      <vt:lpstr>Project Title - Seasonal Agriculture Performance Analysis &amp;  Resource Optimization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Seasonal Agriculture Performance Analysis - Major Project</dc:title>
  <dc:subject>Seasonal Agriculture Performance, Yield Dynamics &amp; Resource Efficiency</dc:subject>
  <dc:creator>Osman Ahmed Khan</dc:creator>
  <cp:keywords>Osman Ahmed Khan; VOIS; AICTE; Agriculture Analytics; Data Science; EDA; Python; Malla Reddy University; STU6973182c049f91769150508</cp:keywords>
  <dc:description>Official academic submission deliverable for VOIS AICTE Batch 1 (2026). Authored by Osman Ahmed Khan, Malla Reddy University.</dc:description>
  <cp:lastModifiedBy>Saish Aher</cp:lastModifiedBy>
  <cp:revision>124</cp:revision>
  <dcterms:created xsi:type="dcterms:W3CDTF">2021-07-11T13:13:15Z</dcterms:created>
  <dcterms:modified xsi:type="dcterms:W3CDTF">2026-09-10T08:02:03Z</dcterms:modified>
  <cp:contentStatus>Copyright © 2026 Osman Ahmed Khan. All Rights Reserved. Registration ID: STU6973182c049f91769150508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